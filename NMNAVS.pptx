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custDataLst>
    <p:tags r:id="rId16"/>
  </p:custDataLst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tags" Target="tags/tag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[naveen 21.xlsx]naveen 21!PivotTable1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80" b="1" i="0" u="none" strike="noStrike" kern="1200" cap="all" spc="120" normalizeH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EMPLOYEE PERFORMANCE TABLE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80" b="1" i="0" u="none" strike="noStrike" kern="1200" cap="all" spc="120" normalizeH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diamond"/>
          <c:size val="6"/>
          <c:spPr>
            <a:solidFill>
              <a:schemeClr val="accent1">
                <a:shade val="76000"/>
              </a:schemeClr>
            </a:solidFill>
            <a:ln w="9525">
              <a:solidFill>
                <a:schemeClr val="accent1">
                  <a:shade val="76000"/>
                </a:schemeClr>
              </a:solidFill>
              <a:round/>
            </a:ln>
            <a:effectLst/>
          </c:spPr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square"/>
          <c:size val="6"/>
          <c:spPr>
            <a:solidFill>
              <a:schemeClr val="accent1">
                <a:tint val="77000"/>
              </a:schemeClr>
            </a:solidFill>
            <a:ln w="9525">
              <a:solidFill>
                <a:schemeClr val="accent1">
                  <a:tint val="77000"/>
                </a:schemeClr>
              </a:solidFill>
              <a:round/>
            </a:ln>
            <a:effectLst/>
          </c:spPr>
        </c:marker>
      </c:pivotFmt>
      <c:pivotFmt>
        <c:idx val="2"/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'naveen 21'!$B$3:$B$4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'naveen 21'!$A$5:$A$12</c:f>
              <c:strCache>
                <c:ptCount val="7"/>
                <c:pt idx="0">
                  <c:v>BPC</c:v>
                </c:pt>
                <c:pt idx="1">
                  <c:v>CCDR</c:v>
                </c:pt>
                <c:pt idx="2">
                  <c:v>PL</c:v>
                </c:pt>
                <c:pt idx="3">
                  <c:v>PYZ</c:v>
                </c:pt>
                <c:pt idx="4">
                  <c:v>SVG</c:v>
                </c:pt>
                <c:pt idx="5">
                  <c:v>TNS</c:v>
                </c:pt>
                <c:pt idx="6">
                  <c:v>WBL</c:v>
                </c:pt>
              </c:strCache>
            </c:strRef>
          </c:cat>
          <c:val>
            <c:numRef>
              <c:f>'naveen 21'!$B$5:$B$12</c:f>
              <c:numCache>
                <c:formatCode>General</c:formatCode>
                <c:ptCount val="7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1C-3447-8989-B495FCA8D2DC}"/>
            </c:ext>
          </c:extLst>
        </c:ser>
        <c:ser>
          <c:idx val="1"/>
          <c:order val="1"/>
          <c:tx>
            <c:strRef>
              <c:f>'naveen 21'!$C$3:$C$4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'naveen 21'!$A$5:$A$12</c:f>
              <c:strCache>
                <c:ptCount val="7"/>
                <c:pt idx="0">
                  <c:v>BPC</c:v>
                </c:pt>
                <c:pt idx="1">
                  <c:v>CCDR</c:v>
                </c:pt>
                <c:pt idx="2">
                  <c:v>PL</c:v>
                </c:pt>
                <c:pt idx="3">
                  <c:v>PYZ</c:v>
                </c:pt>
                <c:pt idx="4">
                  <c:v>SVG</c:v>
                </c:pt>
                <c:pt idx="5">
                  <c:v>TNS</c:v>
                </c:pt>
                <c:pt idx="6">
                  <c:v>WBL</c:v>
                </c:pt>
              </c:strCache>
            </c:strRef>
          </c:cat>
          <c:val>
            <c:numRef>
              <c:f>'naveen 21'!$C$5:$C$12</c:f>
              <c:numCache>
                <c:formatCode>General</c:formatCode>
                <c:ptCount val="7"/>
                <c:pt idx="4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1C-3447-8989-B495FCA8D2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1096448"/>
        <c:axId val="121098240"/>
      </c:barChart>
      <c:catAx>
        <c:axId val="1210964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cap="all" spc="120" normalizeH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098240"/>
        <c:crosses val="autoZero"/>
        <c:auto val="1"/>
        <c:lblAlgn val="ctr"/>
        <c:lblOffset val="100"/>
        <c:noMultiLvlLbl val="0"/>
      </c:catAx>
      <c:valAx>
        <c:axId val="121098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1" i="0" u="none" strike="noStrike" kern="1200" cap="all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PERFORMANCE LEVEL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1" i="0" u="none" strike="noStrike" kern="1200" cap="all" baseline="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09644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24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 b="1" i="0">
          <a:solidFill>
            <a:srgbClr val="002060"/>
          </a:solidFill>
        </a:defRPr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pPr/>
              <a:t>02-09-2024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176900a3c600814f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5" name="Google Shape;1135;g176900a3c600814f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g176900a3c600814f_0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250516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241667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353657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69114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84832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7826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293515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30020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85177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24480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898855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9891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694152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885390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2416850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208169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3287546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414306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lang="en-IN" spc="10" dirty="0"/>
          </a:p>
        </p:txBody>
      </p:sp>
    </p:spTree>
    <p:extLst>
      <p:ext uri="{BB962C8B-B14F-4D97-AF65-F5344CB8AC3E}">
        <p14:creationId xmlns:p14="http://schemas.microsoft.com/office/powerpoint/2010/main" val="193424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  <p:sldLayoutId id="214748385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8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6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 /><Relationship Id="rId1" Type="http://schemas.openxmlformats.org/officeDocument/2006/relationships/slideLayout" Target="../slideLayouts/slideLayout6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" name="Google Shape;1029;p1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30" name="Google Shape;1030;p1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 extrusionOk="0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1" name="Google Shape;1031;p1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 extrusionOk="0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032" name="Google Shape;1032;p1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 extrusionOk="0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33" name="Google Shape;1033;p1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 extrusionOk="0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34" name="Google Shape;1034;p1"/>
          <p:cNvSpPr txBox="1">
            <a:spLocks noGrp="1"/>
          </p:cNvSpPr>
          <p:nvPr>
            <p:ph type="ctrTitle"/>
          </p:nvPr>
        </p:nvSpPr>
        <p:spPr>
          <a:xfrm>
            <a:off x="0" y="412238"/>
            <a:ext cx="9982200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ctr" anchorCtr="0">
            <a:spAutoFit/>
          </a:bodyPr>
          <a:lstStyle/>
          <a:p>
            <a:pPr marL="3213735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200"/>
              <a:buFont typeface="Times New Roman"/>
              <a:buNone/>
            </a:pPr>
            <a:r>
              <a:rPr lang="en-US" b="1">
                <a:solidFill>
                  <a:srgbClr val="0F0F0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DATA ANALYSIS USING EXCEL</a:t>
            </a:r>
            <a:r>
              <a:rPr lang="en-US" b="1" i="0">
                <a:solidFill>
                  <a:srgbClr val="0F0F0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b="1" i="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</a:br>
            <a:endParaRPr/>
          </a:p>
        </p:txBody>
      </p:sp>
      <p:sp>
        <p:nvSpPr>
          <p:cNvPr id="1035" name="Google Shape;1035;p1"/>
          <p:cNvSpPr txBox="1">
            <a:spLocks noGrp="1"/>
          </p:cNvSpPr>
          <p:nvPr>
            <p:ph type="sldNum" idx="7"/>
          </p:nvPr>
        </p:nvSpPr>
        <p:spPr>
          <a:xfrm>
            <a:off x="10514011" y="5883275"/>
            <a:ext cx="764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  <p:sp>
        <p:nvSpPr>
          <p:cNvPr id="1036" name="Google Shape;1036;p1"/>
          <p:cNvSpPr txBox="1"/>
          <p:nvPr/>
        </p:nvSpPr>
        <p:spPr>
          <a:xfrm>
            <a:off x="9112" y="2733177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37" name="Google Shape;1037;p1"/>
          <p:cNvSpPr txBox="1"/>
          <p:nvPr/>
        </p:nvSpPr>
        <p:spPr>
          <a:xfrm>
            <a:off x="2619374" y="2828598"/>
            <a:ext cx="6935251" cy="240062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vert="horz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STUDENT NAME   </a:t>
            </a:r>
            <a:r>
              <a:rPr lang="en-GB" sz="2400" b="1" dirty="0">
                <a:solidFill>
                  <a:schemeClr val="tx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NAVEEN G</a:t>
            </a:r>
            <a:endParaRPr sz="2400" b="1" dirty="0">
              <a:solidFill>
                <a:schemeClr val="tx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REGISTER NO        </a:t>
            </a:r>
            <a:r>
              <a:rPr lang="en-GB" sz="2400" b="1" dirty="0">
                <a:solidFill>
                  <a:schemeClr val="tx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 312211649 </a:t>
            </a:r>
            <a:endParaRPr sz="2400" b="1" dirty="0">
              <a:solidFill>
                <a:schemeClr val="tx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r>
              <a:rPr lang="en-US" sz="2400" b="1" dirty="0">
                <a:solidFill>
                  <a:schemeClr val="tx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DEPARTMENT       :  B.COM (GENERAL)</a:t>
            </a:r>
            <a:endParaRPr sz="2400" b="1" dirty="0">
              <a:solidFill>
                <a:schemeClr val="tx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COLLEGE                : </a:t>
            </a:r>
            <a:r>
              <a:rPr lang="en-GB" sz="2400" b="1" dirty="0">
                <a:solidFill>
                  <a:schemeClr val="tx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THIRUTHNGAL NADAR COLLEGE</a:t>
            </a:r>
            <a:endParaRPr sz="2400" b="1" dirty="0">
              <a:solidFill>
                <a:schemeClr val="tx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r>
              <a:rPr lang="en-US" sz="2400" b="1" dirty="0">
                <a:solidFill>
                  <a:schemeClr val="tx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</a:t>
            </a:r>
            <a:endParaRPr sz="2400" b="1" dirty="0">
              <a:solidFill>
                <a:schemeClr val="tx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tx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40" name="Google Shape;1040;p2"/>
          <p:cNvGrpSpPr/>
          <p:nvPr/>
        </p:nvGrpSpPr>
        <p:grpSpPr>
          <a:xfrm>
            <a:off x="7448612" y="0"/>
            <a:ext cx="4743795" cy="6858466"/>
            <a:chOff x="7448612" y="0"/>
            <a:chExt cx="4743795" cy="6858466"/>
          </a:xfrm>
        </p:grpSpPr>
        <p:sp>
          <p:nvSpPr>
            <p:cNvPr id="1041" name="Google Shape;1041;p2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 extrusionOk="0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noFill/>
            <a:ln w="9525" cap="flat" cmpd="sng">
              <a:solidFill>
                <a:srgbClr val="5FCA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2" name="Google Shape;1042;p2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 extrusionOk="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noFill/>
            <a:ln w="9525" cap="flat" cmpd="sng">
              <a:solidFill>
                <a:srgbClr val="5FCA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3" name="Google Shape;1043;p2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 extrusionOk="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569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4" name="Google Shape;1044;p2"/>
            <p:cNvSpPr/>
            <p:nvPr/>
          </p:nvSpPr>
          <p:spPr>
            <a:xfrm>
              <a:off x="9602878" y="0"/>
              <a:ext cx="2589529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 extrusionOk="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61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5" name="Google Shape;1045;p2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 extrusionOk="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6" name="Google Shape;1046;p2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 extrusionOk="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4980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7" name="Google Shape;1047;p2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 extrusionOk="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6980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8" name="Google Shape;1048;p2"/>
            <p:cNvSpPr/>
            <p:nvPr/>
          </p:nvSpPr>
          <p:spPr>
            <a:xfrm>
              <a:off x="10936247" y="0"/>
              <a:ext cx="1256029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 extrusionOk="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61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9" name="Google Shape;1049;p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 extrusionOk="0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050" name="Google Shape;1050;p2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 extrusionOk="0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698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51" name="Google Shape;1051;p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52" name="Google Shape;1052;p2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 extrusionOk="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53" name="Google Shape;1053;p2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 extrusionOk="0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54" name="Google Shape;1054;p2"/>
          <p:cNvSpPr txBox="1">
            <a:spLocks noGrp="1"/>
          </p:cNvSpPr>
          <p:nvPr>
            <p:ph type="title"/>
          </p:nvPr>
        </p:nvSpPr>
        <p:spPr>
          <a:xfrm>
            <a:off x="3480172" y="1952002"/>
            <a:ext cx="4743900" cy="84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Twentieth Century"/>
              <a:buNone/>
            </a:pPr>
            <a:r>
              <a:rPr lang="en-US" sz="5400" b="1" i="1" dirty="0"/>
              <a:t>PROJECT TITLE</a:t>
            </a:r>
            <a:endParaRPr sz="5400" b="1" i="1"/>
          </a:p>
        </p:txBody>
      </p:sp>
      <p:sp>
        <p:nvSpPr>
          <p:cNvPr id="1055" name="Google Shape;1055;p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1056" name="Google Shape;1056;p2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057" name="Google Shape;1057;p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8" name="Google Shape;1058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9" name="Google Shape;1059;p2"/>
          <p:cNvSpPr txBox="1"/>
          <p:nvPr/>
        </p:nvSpPr>
        <p:spPr>
          <a:xfrm rot="-469">
            <a:off x="1633528" y="2875387"/>
            <a:ext cx="9644473" cy="144650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0F0F0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Performance Analysis using Excel</a:t>
            </a:r>
            <a:endParaRPr sz="28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3"/>
          <p:cNvSpPr/>
          <p:nvPr/>
        </p:nvSpPr>
        <p:spPr>
          <a:xfrm>
            <a:off x="0" y="0"/>
            <a:ext cx="124968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1062" name="Google Shape;1062;p3"/>
          <p:cNvGrpSpPr/>
          <p:nvPr/>
        </p:nvGrpSpPr>
        <p:grpSpPr>
          <a:xfrm>
            <a:off x="7448612" y="0"/>
            <a:ext cx="4743795" cy="6858466"/>
            <a:chOff x="7448612" y="0"/>
            <a:chExt cx="4743795" cy="6858466"/>
          </a:xfrm>
        </p:grpSpPr>
        <p:sp>
          <p:nvSpPr>
            <p:cNvPr id="1063" name="Google Shape;1063;p3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 extrusionOk="0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noFill/>
            <a:ln w="9525" cap="flat" cmpd="sng">
              <a:solidFill>
                <a:srgbClr val="5FCA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4" name="Google Shape;1064;p3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 extrusionOk="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noFill/>
            <a:ln w="9525" cap="flat" cmpd="sng">
              <a:solidFill>
                <a:srgbClr val="5FCA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5" name="Google Shape;1065;p3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 extrusionOk="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569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6" name="Google Shape;1066;p3"/>
            <p:cNvSpPr/>
            <p:nvPr/>
          </p:nvSpPr>
          <p:spPr>
            <a:xfrm>
              <a:off x="9602878" y="0"/>
              <a:ext cx="2589529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 extrusionOk="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61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7" name="Google Shape;1067;p3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 extrusionOk="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8" name="Google Shape;1068;p3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 extrusionOk="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4980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9" name="Google Shape;1069;p3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 extrusionOk="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6980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0" name="Google Shape;1070;p3"/>
            <p:cNvSpPr/>
            <p:nvPr/>
          </p:nvSpPr>
          <p:spPr>
            <a:xfrm>
              <a:off x="10936247" y="0"/>
              <a:ext cx="1256029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 extrusionOk="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61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1" name="Google Shape;1071;p3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 extrusionOk="0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072" name="Google Shape;1072;p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 extrusionOk="0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698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73" name="Google Shape;1073;p3"/>
          <p:cNvSpPr txBox="1"/>
          <p:nvPr/>
        </p:nvSpPr>
        <p:spPr>
          <a:xfrm>
            <a:off x="752475" y="6486037"/>
            <a:ext cx="17736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D83C3"/>
                </a:solidFill>
                <a:latin typeface="Trebuchet MS"/>
                <a:ea typeface="Trebuchet MS"/>
                <a:cs typeface="Trebuchet MS"/>
                <a:sym typeface="Trebuchet MS"/>
              </a:rPr>
              <a:t>3/21/2024  </a:t>
            </a:r>
            <a:r>
              <a:rPr lang="en-US" sz="1100" b="1">
                <a:solidFill>
                  <a:srgbClr val="2D83C3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4" name="Google Shape;1074;p3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 extrusionOk="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75" name="Google Shape;1075;p3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 extrusionOk="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076" name="Google Shape;107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7050" y="61341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3"/>
          <p:cNvSpPr txBox="1">
            <a:spLocks noGrp="1"/>
          </p:cNvSpPr>
          <p:nvPr>
            <p:ph type="title"/>
          </p:nvPr>
        </p:nvSpPr>
        <p:spPr>
          <a:xfrm>
            <a:off x="3891677" y="574572"/>
            <a:ext cx="34323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lang="en-US" b="1" dirty="0"/>
              <a:t>AGENDA</a:t>
            </a:r>
            <a:endParaRPr b="1"/>
          </a:p>
        </p:txBody>
      </p:sp>
      <p:sp>
        <p:nvSpPr>
          <p:cNvPr id="1081" name="Google Shape;1081;p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sp>
        <p:nvSpPr>
          <p:cNvPr id="1082" name="Google Shape;1082;p3"/>
          <p:cNvSpPr txBox="1"/>
          <p:nvPr/>
        </p:nvSpPr>
        <p:spPr>
          <a:xfrm>
            <a:off x="2735541" y="1218300"/>
            <a:ext cx="7140019" cy="44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i="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Twentieth Century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/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Twentieth Century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 b="1"/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Twentieth Century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Users</a:t>
            </a:r>
            <a:endParaRPr b="1"/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Twentieth Century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 and Proposition</a:t>
            </a:r>
            <a:endParaRPr b="1"/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Twentieth Century"/>
              <a:buAutoNum type="arabicPeriod"/>
            </a:pPr>
            <a:r>
              <a:rPr lang="en-US" sz="2800" b="1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sz="2800" b="1" i="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Twentieth Century"/>
              <a:buAutoNum type="arabicPeriod"/>
            </a:pPr>
            <a:r>
              <a:rPr lang="en-US" sz="2800" b="1" i="0" dirty="0" err="1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Modelling</a:t>
            </a:r>
            <a:r>
              <a:rPr lang="en-US" sz="2800" b="1" i="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Approach</a:t>
            </a:r>
            <a:endParaRPr b="1"/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Twentieth Century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</a:t>
            </a:r>
            <a:r>
              <a:rPr lang="en-US" sz="2800" b="1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sz="2800" b="1" i="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Twentieth Century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96350" y="2264764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533400" y="1905000"/>
            <a:ext cx="7982576" cy="434340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pPr algn="ctr"/>
            <a:r>
              <a:rPr lang="en-IN" sz="2400" b="1" dirty="0"/>
              <a:t>1.Data Collection and Organization</a:t>
            </a:r>
          </a:p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2. Effective Visualization</a:t>
            </a:r>
          </a:p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3. Efficiency and Automation</a:t>
            </a:r>
          </a:p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4. Fair and Objective Evaluation</a:t>
            </a:r>
          </a:p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5. Identifying Trends and Outliers</a:t>
            </a:r>
          </a:p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6.</a:t>
            </a:r>
            <a:r>
              <a:rPr lang="en-US" sz="2400" b="1" dirty="0"/>
              <a:t> Comparing Across Metrics and Time Periods</a:t>
            </a:r>
            <a:endParaRPr lang="en-IN" sz="2400" b="1" dirty="0"/>
          </a:p>
          <a:p>
            <a:pPr algn="ctr"/>
            <a:br>
              <a:rPr lang="en-IN" sz="2400" b="1" dirty="0"/>
            </a:br>
            <a:endParaRPr sz="2400" b="1" dirty="0">
              <a:solidFill>
                <a:srgbClr val="FF0000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b="1" spc="-20" dirty="0"/>
              <a:t>P</a:t>
            </a:r>
            <a:r>
              <a:rPr sz="4250" b="1" spc="15" dirty="0"/>
              <a:t>ROB</a:t>
            </a:r>
            <a:r>
              <a:rPr sz="4250" b="1" spc="55" dirty="0"/>
              <a:t>L</a:t>
            </a:r>
            <a:r>
              <a:rPr sz="4250" b="1" spc="-20" dirty="0"/>
              <a:t>E</a:t>
            </a:r>
            <a:r>
              <a:rPr lang="en-IN" sz="4250" b="1" spc="20" dirty="0"/>
              <a:t>M</a:t>
            </a:r>
            <a:r>
              <a:rPr lang="en-IN" sz="4250" b="1" dirty="0"/>
              <a:t>	</a:t>
            </a:r>
            <a:r>
              <a:rPr sz="4250" b="1" spc="10" dirty="0"/>
              <a:t>S</a:t>
            </a:r>
            <a:r>
              <a:rPr sz="4250" b="1" spc="-370" dirty="0"/>
              <a:t>T</a:t>
            </a:r>
            <a:r>
              <a:rPr sz="4250" b="1" spc="-375" dirty="0"/>
              <a:t>A</a:t>
            </a:r>
            <a:r>
              <a:rPr sz="4250" b="1" spc="15" dirty="0"/>
              <a:t>T</a:t>
            </a:r>
            <a:r>
              <a:rPr sz="4250" b="1" spc="-10" dirty="0"/>
              <a:t>E</a:t>
            </a:r>
            <a:r>
              <a:rPr sz="4250" b="1" spc="-20" dirty="0"/>
              <a:t>ME</a:t>
            </a:r>
            <a:r>
              <a:rPr sz="4250" b="1" spc="10" dirty="0"/>
              <a:t>NT</a:t>
            </a:r>
            <a:endParaRPr sz="4250" b="1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4</a:t>
            </a:fld>
            <a:endParaRPr spc="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4" name="Google Shape;1084;p4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85" name="Google Shape;1085;p4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extrusionOk="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 extrusionOk="0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087" name="Google Shape;1087;p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8" name="Google Shape;1088;p4"/>
          <p:cNvSpPr/>
          <p:nvPr/>
        </p:nvSpPr>
        <p:spPr>
          <a:xfrm>
            <a:off x="987805" y="2057399"/>
            <a:ext cx="7670420" cy="4190975"/>
          </a:xfrm>
          <a:custGeom>
            <a:avLst/>
            <a:gdLst/>
            <a:ahLst/>
            <a:cxnLst/>
            <a:rect l="l" t="t" r="r" b="b"/>
            <a:pathLst>
              <a:path w="314325" h="323850" extrusionOk="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Collection and Preparation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Selecting the Right Template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Customization and Data Entry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Visualizing Performance Metrics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Interpreting the Data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Communication and Reporting</a:t>
            </a:r>
            <a:endParaRPr sz="2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89" name="Google Shape;1089;p4"/>
          <p:cNvSpPr txBox="1">
            <a:spLocks noGrp="1"/>
          </p:cNvSpPr>
          <p:nvPr>
            <p:ph type="title"/>
          </p:nvPr>
        </p:nvSpPr>
        <p:spPr>
          <a:xfrm>
            <a:off x="1742107" y="958157"/>
            <a:ext cx="52635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Twentieth Century"/>
              <a:buNone/>
            </a:pPr>
            <a:r>
              <a:rPr lang="en-US" sz="4250" b="1"/>
              <a:t>PROJECT	OVERVIEW</a:t>
            </a:r>
            <a:endParaRPr sz="4250" b="1"/>
          </a:p>
        </p:txBody>
      </p:sp>
      <p:sp>
        <p:nvSpPr>
          <p:cNvPr id="1090" name="Google Shape;1090;p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sp>
        <p:nvSpPr>
          <p:cNvPr id="1091" name="Google Shape;1091;p4"/>
          <p:cNvSpPr txBox="1"/>
          <p:nvPr/>
        </p:nvSpPr>
        <p:spPr>
          <a:xfrm>
            <a:off x="838200" y="4648200"/>
            <a:ext cx="7924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Char char="•"/>
            </a:pPr>
            <a:r>
              <a:rPr lang="en-US" sz="2400" b="0" i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5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94" name="Google Shape;1094;p5"/>
          <p:cNvSpPr/>
          <p:nvPr/>
        </p:nvSpPr>
        <p:spPr>
          <a:xfrm>
            <a:off x="2295625" y="1710675"/>
            <a:ext cx="7515125" cy="4820754"/>
          </a:xfrm>
          <a:custGeom>
            <a:avLst/>
            <a:gdLst/>
            <a:ahLst/>
            <a:cxnLst/>
            <a:rect l="l" t="t" r="r" b="b"/>
            <a:pathLst>
              <a:path w="314325" h="323850" extrusionOk="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ym typeface="Twentieth Century"/>
              </a:rPr>
              <a:t>Managers and Team Leaders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ym typeface="Twentieth Century"/>
              </a:rPr>
              <a:t>Human Resources (HR) Professionals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ym typeface="Twentieth Century"/>
              </a:rPr>
              <a:t>Executives and Business Owners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ym typeface="Twentieth Century"/>
              </a:rPr>
              <a:t>Employees Themselves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ym typeface="Twentieth Century"/>
              </a:rPr>
              <a:t>Project Managers and Project Teams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ym typeface="Twentieth Century"/>
              </a:rPr>
              <a:t>Consultants and External Auditors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ym typeface="Twentieth Century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lang="en-US" sz="2400" b="1">
                <a:sym typeface="Twentieth Century"/>
              </a:rPr>
              <a:t>Training and Development Specialists</a:t>
            </a:r>
            <a:endParaRPr sz="2400" b="1"/>
          </a:p>
          <a:p>
            <a:pPr marL="5715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endParaRPr sz="2400" b="1">
              <a:sym typeface="Twentieth Century"/>
            </a:endParaRPr>
          </a:p>
        </p:txBody>
      </p:sp>
      <p:sp>
        <p:nvSpPr>
          <p:cNvPr id="1095" name="Google Shape;1095;p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 extrusionOk="0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96" name="Google Shape;1096;p5"/>
          <p:cNvSpPr txBox="1">
            <a:spLocks noGrp="1"/>
          </p:cNvSpPr>
          <p:nvPr>
            <p:ph type="title"/>
          </p:nvPr>
        </p:nvSpPr>
        <p:spPr>
          <a:xfrm>
            <a:off x="3588752" y="818362"/>
            <a:ext cx="50145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</a:pPr>
            <a:r>
              <a:rPr lang="en-US" sz="3200" b="1"/>
              <a:t>WHO ARE THE END USERS?</a:t>
            </a:r>
            <a:endParaRPr sz="3200" b="1"/>
          </a:p>
        </p:txBody>
      </p:sp>
      <p:sp>
        <p:nvSpPr>
          <p:cNvPr id="1097" name="Google Shape;1097;p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48000" y="1908206"/>
            <a:ext cx="5867400" cy="350520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 anchor="b"/>
          <a:lstStyle/>
          <a:p>
            <a:endParaRPr lang="en-IN" b="1" dirty="0"/>
          </a:p>
          <a:p>
            <a:r>
              <a:rPr lang="en-US" b="1" dirty="0"/>
              <a:t>1.Conditional formatting- missing</a:t>
            </a:r>
          </a:p>
          <a:p>
            <a:endParaRPr lang="en-US" b="1" dirty="0"/>
          </a:p>
          <a:p>
            <a:r>
              <a:rPr lang="en-US" b="1" dirty="0"/>
              <a:t>2.Filter- remove</a:t>
            </a:r>
          </a:p>
          <a:p>
            <a:endParaRPr lang="en-US" b="1" dirty="0"/>
          </a:p>
          <a:p>
            <a:r>
              <a:rPr lang="en-US" b="1" dirty="0"/>
              <a:t>3.Formula- performance</a:t>
            </a:r>
          </a:p>
          <a:p>
            <a:endParaRPr lang="en-US" b="1" dirty="0"/>
          </a:p>
          <a:p>
            <a:r>
              <a:rPr lang="en-US" b="1" dirty="0"/>
              <a:t>4.Pivot-summary</a:t>
            </a:r>
          </a:p>
          <a:p>
            <a:endParaRPr lang="en-US" b="1" dirty="0"/>
          </a:p>
          <a:p>
            <a:r>
              <a:rPr lang="en-US" b="1" dirty="0"/>
              <a:t>5.Graph- data </a:t>
            </a:r>
            <a:r>
              <a:rPr lang="en-IN" b="1" dirty="0"/>
              <a:t>visualizations </a:t>
            </a:r>
            <a:endParaRPr lang="en-US" b="1" dirty="0"/>
          </a:p>
          <a:p>
            <a:endParaRPr lang="en-IN" b="1" dirty="0"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10" dirty="0"/>
              <a:t>O</a:t>
            </a:r>
            <a:r>
              <a:rPr sz="3600" b="1" spc="25" dirty="0"/>
              <a:t>U</a:t>
            </a:r>
            <a:r>
              <a:rPr sz="3600" b="1" dirty="0"/>
              <a:t>R</a:t>
            </a:r>
            <a:r>
              <a:rPr sz="3600" b="1" spc="5" dirty="0"/>
              <a:t> </a:t>
            </a:r>
            <a:r>
              <a:rPr sz="3600" b="1" spc="25" dirty="0"/>
              <a:t>S</a:t>
            </a:r>
            <a:r>
              <a:rPr sz="3600" b="1" spc="10" dirty="0"/>
              <a:t>O</a:t>
            </a:r>
            <a:r>
              <a:rPr sz="3600" b="1" spc="25" dirty="0"/>
              <a:t>LU</a:t>
            </a:r>
            <a:r>
              <a:rPr sz="3600" b="1" spc="-35" dirty="0"/>
              <a:t>T</a:t>
            </a:r>
            <a:r>
              <a:rPr sz="3600" b="1" spc="-30" dirty="0"/>
              <a:t>I</a:t>
            </a:r>
            <a:r>
              <a:rPr sz="3600" b="1" spc="10" dirty="0"/>
              <a:t>O</a:t>
            </a:r>
            <a:r>
              <a:rPr sz="3600" b="1" dirty="0"/>
              <a:t>N</a:t>
            </a:r>
            <a:r>
              <a:rPr sz="3600" b="1" spc="-345" dirty="0"/>
              <a:t> </a:t>
            </a:r>
            <a:r>
              <a:rPr sz="3600" b="1" spc="-35" dirty="0"/>
              <a:t>A</a:t>
            </a:r>
            <a:r>
              <a:rPr sz="3600" b="1" spc="-5" dirty="0"/>
              <a:t>N</a:t>
            </a:r>
            <a:r>
              <a:rPr sz="3600" b="1" dirty="0"/>
              <a:t>D</a:t>
            </a:r>
            <a:r>
              <a:rPr sz="3600" b="1" spc="35" dirty="0"/>
              <a:t> </a:t>
            </a:r>
            <a:r>
              <a:rPr sz="3600" b="1" spc="-30" dirty="0"/>
              <a:t>I</a:t>
            </a:r>
            <a:r>
              <a:rPr sz="3600" b="1" spc="-35" dirty="0"/>
              <a:t>T</a:t>
            </a:r>
            <a:r>
              <a:rPr sz="3600" b="1" dirty="0"/>
              <a:t>S</a:t>
            </a:r>
            <a:r>
              <a:rPr sz="3600" b="1" spc="60" dirty="0"/>
              <a:t> </a:t>
            </a:r>
            <a:r>
              <a:rPr sz="3600" b="1" spc="-295" dirty="0"/>
              <a:t>V</a:t>
            </a:r>
            <a:r>
              <a:rPr sz="3600" b="1" spc="-35" dirty="0"/>
              <a:t>A</a:t>
            </a:r>
            <a:r>
              <a:rPr sz="3600" b="1" spc="25" dirty="0"/>
              <a:t>LU</a:t>
            </a:r>
            <a:r>
              <a:rPr sz="3600" b="1" dirty="0"/>
              <a:t>E</a:t>
            </a:r>
            <a:r>
              <a:rPr sz="3600" b="1" spc="-65" dirty="0"/>
              <a:t> </a:t>
            </a:r>
            <a:r>
              <a:rPr sz="3600" b="1" spc="-15" dirty="0"/>
              <a:t>P</a:t>
            </a:r>
            <a:r>
              <a:rPr sz="3600" b="1" spc="-30" dirty="0"/>
              <a:t>R</a:t>
            </a:r>
            <a:r>
              <a:rPr sz="3600" b="1" spc="10" dirty="0"/>
              <a:t>O</a:t>
            </a:r>
            <a:r>
              <a:rPr sz="3600" b="1" spc="-15" dirty="0"/>
              <a:t>P</a:t>
            </a:r>
            <a:r>
              <a:rPr sz="3600" b="1" spc="10" dirty="0"/>
              <a:t>O</a:t>
            </a:r>
            <a:r>
              <a:rPr sz="3600" b="1" spc="25" dirty="0"/>
              <a:t>S</a:t>
            </a:r>
            <a:r>
              <a:rPr sz="3600" b="1" spc="-30" dirty="0"/>
              <a:t>I</a:t>
            </a:r>
            <a:r>
              <a:rPr sz="3600" b="1" spc="-35" dirty="0"/>
              <a:t>T</a:t>
            </a:r>
            <a:r>
              <a:rPr sz="3600" b="1" spc="-30" dirty="0"/>
              <a:t>I</a:t>
            </a:r>
            <a:r>
              <a:rPr sz="3600" b="1" spc="10" dirty="0"/>
              <a:t>O</a:t>
            </a:r>
            <a:r>
              <a:rPr sz="3600" b="1" dirty="0"/>
              <a:t>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7</a:t>
            </a:fld>
            <a:endParaRPr spc="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16311"/>
            <a:ext cx="10364451" cy="1596177"/>
          </a:xfrm>
        </p:spPr>
        <p:txBody>
          <a:bodyPr/>
          <a:lstStyle/>
          <a:p>
            <a:r>
              <a:rPr lang="en-IN" b="1" dirty="0"/>
              <a:t>Dataset Description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68113E-1D91-4817-A609-5A53675DA48F}"/>
              </a:ext>
            </a:extLst>
          </p:cNvPr>
          <p:cNvSpPr/>
          <p:nvPr/>
        </p:nvSpPr>
        <p:spPr>
          <a:xfrm>
            <a:off x="1219199" y="1219199"/>
            <a:ext cx="9380987" cy="55224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1.Project Management Sample Data</a:t>
            </a: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2. Inventory Records Sample Data</a:t>
            </a: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</a:rPr>
              <a:t>3.Call Center Customer Satisfaction Data</a:t>
            </a:r>
          </a:p>
          <a:p>
            <a:endParaRPr lang="en-US" sz="2400" b="1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</a:rPr>
              <a:t>4.</a:t>
            </a:r>
            <a:r>
              <a:rPr lang="en-IN" sz="2400" b="1" dirty="0">
                <a:solidFill>
                  <a:schemeClr val="tx1"/>
                </a:solidFill>
              </a:rPr>
              <a:t> Supermarket Sales Sample Data</a:t>
            </a: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5. Employee Management Data</a:t>
            </a: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6. Technological Product Sample Data</a:t>
            </a: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7.</a:t>
            </a:r>
            <a:r>
              <a:rPr lang="en-US" sz="2400" b="1" dirty="0">
                <a:solidFill>
                  <a:schemeClr val="tx1"/>
                </a:solidFill>
              </a:rPr>
              <a:t> Engineering and Manufacturing Sample Data</a:t>
            </a:r>
          </a:p>
          <a:p>
            <a:endParaRPr lang="en-US" sz="2400" b="1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</a:rPr>
              <a:t>8.</a:t>
            </a:r>
            <a:r>
              <a:rPr lang="en-IN" sz="2400" b="1" dirty="0">
                <a:solidFill>
                  <a:schemeClr val="tx1"/>
                </a:solidFill>
              </a:rPr>
              <a:t> Students Marksheet Sample Data</a:t>
            </a: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48000" y="1606089"/>
            <a:ext cx="8457818" cy="4213686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•Performance level =IFS( Z *151&gt;= 5 “VERY HIGH” Z * 151 &gt;= 4 “HIGH”, Z * 151&gt;= 3 ,”MED”,TRUE,”LOW”)</a:t>
            </a:r>
            <a:endParaRPr sz="2400" b="1" dirty="0"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15" dirty="0"/>
              <a:t>THE</a:t>
            </a:r>
            <a:r>
              <a:rPr sz="4250" spc="20" dirty="0"/>
              <a:t> </a:t>
            </a:r>
            <a:r>
              <a:rPr lang="en-US" sz="4250" spc="20" dirty="0"/>
              <a:t>"</a:t>
            </a:r>
            <a:r>
              <a:rPr sz="4250" spc="10" dirty="0"/>
              <a:t>WOW</a:t>
            </a:r>
            <a:r>
              <a:rPr lang="en-US" sz="4250" spc="10" dirty="0"/>
              <a:t>"</a:t>
            </a:r>
            <a:r>
              <a:rPr sz="4250" spc="85" dirty="0"/>
              <a:t> </a:t>
            </a:r>
            <a:r>
              <a:rPr sz="4250" spc="10" dirty="0"/>
              <a:t>IN</a:t>
            </a:r>
            <a:r>
              <a:rPr sz="4250" spc="-5" dirty="0"/>
              <a:t> </a:t>
            </a:r>
            <a:r>
              <a:rPr sz="4250" spc="15" dirty="0"/>
              <a:t>OUR</a:t>
            </a:r>
            <a:r>
              <a:rPr sz="4250" spc="-10" dirty="0"/>
              <a:t> </a:t>
            </a:r>
            <a:r>
              <a:rPr sz="4250" spc="20" dirty="0"/>
              <a:t>SOLUTION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9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3303904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spc="15" dirty="0">
                <a:latin typeface="Trebuchet MS"/>
                <a:cs typeface="Trebuchet MS"/>
              </a:rPr>
              <a:t>M</a:t>
            </a:r>
            <a:r>
              <a:rPr sz="4800" b="1" dirty="0">
                <a:latin typeface="Trebuchet MS"/>
                <a:cs typeface="Trebuchet MS"/>
              </a:rPr>
              <a:t>O</a:t>
            </a:r>
            <a:r>
              <a:rPr sz="4800" b="1" spc="-15" dirty="0">
                <a:latin typeface="Trebuchet MS"/>
                <a:cs typeface="Trebuchet MS"/>
              </a:rPr>
              <a:t>D</a:t>
            </a:r>
            <a:r>
              <a:rPr sz="4800" b="1" spc="-35" dirty="0">
                <a:latin typeface="Trebuchet MS"/>
                <a:cs typeface="Trebuchet MS"/>
              </a:rPr>
              <a:t>E</a:t>
            </a:r>
            <a:r>
              <a:rPr sz="4800" b="1" spc="-30" dirty="0">
                <a:latin typeface="Trebuchet MS"/>
                <a:cs typeface="Trebuchet MS"/>
              </a:rPr>
              <a:t>LL</a:t>
            </a:r>
            <a:r>
              <a:rPr sz="4800" b="1" spc="-5" dirty="0">
                <a:latin typeface="Trebuchet MS"/>
                <a:cs typeface="Trebuchet MS"/>
              </a:rPr>
              <a:t>I</a:t>
            </a:r>
            <a:r>
              <a:rPr sz="4800" b="1" spc="30" dirty="0">
                <a:latin typeface="Trebuchet MS"/>
                <a:cs typeface="Trebuchet MS"/>
              </a:rPr>
              <a:t>N</a:t>
            </a:r>
            <a:r>
              <a:rPr sz="4800" b="1" spc="5" dirty="0">
                <a:latin typeface="Trebuchet MS"/>
                <a:cs typeface="Trebuchet MS"/>
              </a:rPr>
              <a:t>G</a:t>
            </a:r>
            <a:endParaRPr sz="4800" b="1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322CEC-1A61-4925-89CD-280A51899E0C}"/>
              </a:ext>
            </a:extLst>
          </p:cNvPr>
          <p:cNvSpPr/>
          <p:nvPr/>
        </p:nvSpPr>
        <p:spPr>
          <a:xfrm>
            <a:off x="4444048" y="1323976"/>
            <a:ext cx="3303904" cy="4571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1.Data collection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2.Feature collection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3.Data cleaning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4.Levels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5.Summary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6. </a:t>
            </a:r>
            <a:r>
              <a:rPr lang="en-US" sz="2400" b="1" dirty="0" err="1">
                <a:solidFill>
                  <a:schemeClr val="tx1"/>
                </a:solidFill>
              </a:rPr>
              <a:t>Visulaization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CFA448-EE91-0DB9-E177-A90C2D3234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527433"/>
              </p:ext>
            </p:extLst>
          </p:nvPr>
        </p:nvGraphicFramePr>
        <p:xfrm>
          <a:off x="1838081" y="767353"/>
          <a:ext cx="7905526" cy="5012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1303">
                  <a:extLst>
                    <a:ext uri="{9D8B030D-6E8A-4147-A177-3AD203B41FA5}">
                      <a16:colId xmlns:a16="http://schemas.microsoft.com/office/drawing/2014/main" val="897888787"/>
                    </a:ext>
                  </a:extLst>
                </a:gridCol>
                <a:gridCol w="2527418">
                  <a:extLst>
                    <a:ext uri="{9D8B030D-6E8A-4147-A177-3AD203B41FA5}">
                      <a16:colId xmlns:a16="http://schemas.microsoft.com/office/drawing/2014/main" val="2634179972"/>
                    </a:ext>
                  </a:extLst>
                </a:gridCol>
                <a:gridCol w="793491">
                  <a:extLst>
                    <a:ext uri="{9D8B030D-6E8A-4147-A177-3AD203B41FA5}">
                      <a16:colId xmlns:a16="http://schemas.microsoft.com/office/drawing/2014/main" val="866636084"/>
                    </a:ext>
                  </a:extLst>
                </a:gridCol>
                <a:gridCol w="1763314">
                  <a:extLst>
                    <a:ext uri="{9D8B030D-6E8A-4147-A177-3AD203B41FA5}">
                      <a16:colId xmlns:a16="http://schemas.microsoft.com/office/drawing/2014/main" val="2857903914"/>
                    </a:ext>
                  </a:extLst>
                </a:gridCol>
              </a:tblGrid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GenderCode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(All)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2863533049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3916266527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Count of FirstName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Column Labels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700673352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Row Labels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HIGH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LOW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Grand Total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119239781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BPC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3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3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1245610538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CCDR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751932175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PL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2898124441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PYZ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372615966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SVG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3292802246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TNS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3316347925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WBL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1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2.0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2795298731"/>
                  </a:ext>
                </a:extLst>
              </a:tr>
              <a:tr h="324193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b="1" u="none" strike="noStrike">
                          <a:effectLst/>
                        </a:rPr>
                        <a:t>Grand Total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8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>
                          <a:effectLst/>
                        </a:rPr>
                        <a:t>2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1" u="none" strike="noStrike" dirty="0">
                          <a:effectLst/>
                        </a:rPr>
                        <a:t>10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63" marR="6263" marT="6263" anchor="b"/>
                </a:tc>
                <a:extLst>
                  <a:ext uri="{0D108BD9-81ED-4DB2-BD59-A6C34878D82A}">
                    <a16:rowId xmlns:a16="http://schemas.microsoft.com/office/drawing/2014/main" val="41856265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"/>
          <p:cNvSpPr txBox="1">
            <a:spLocks noGrp="1"/>
          </p:cNvSpPr>
          <p:nvPr>
            <p:ph type="title"/>
          </p:nvPr>
        </p:nvSpPr>
        <p:spPr>
          <a:xfrm>
            <a:off x="755325" y="385449"/>
            <a:ext cx="4356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lang="en-US" b="1"/>
              <a:t>RESULTS</a:t>
            </a:r>
            <a:endParaRPr b="1"/>
          </a:p>
        </p:txBody>
      </p:sp>
      <p:sp>
        <p:nvSpPr>
          <p:cNvPr id="1130" name="Google Shape;1130;p1"/>
          <p:cNvSpPr txBox="1"/>
          <p:nvPr/>
        </p:nvSpPr>
        <p:spPr>
          <a:xfrm>
            <a:off x="11277218" y="6473337"/>
            <a:ext cx="2286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936B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fld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6A232BC-57AD-BA26-7B49-96E04DA9F1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0933150"/>
              </p:ext>
            </p:extLst>
          </p:nvPr>
        </p:nvGraphicFramePr>
        <p:xfrm>
          <a:off x="755325" y="803160"/>
          <a:ext cx="9515183" cy="5766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CB5B-BDD0-5A64-1A7C-37D3C88F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-17633"/>
            <a:ext cx="10364451" cy="159617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621808-7A70-43A8-A737-A82D75F91659}"/>
              </a:ext>
            </a:extLst>
          </p:cNvPr>
          <p:cNvSpPr/>
          <p:nvPr/>
        </p:nvSpPr>
        <p:spPr>
          <a:xfrm>
            <a:off x="1409699" y="1313245"/>
            <a:ext cx="9372600" cy="48006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1.</a:t>
            </a:r>
            <a:r>
              <a:rPr lang="en-US" b="1" dirty="0"/>
              <a:t> Excel Templates: Excel provides ready-to-use templates for evaluating employee performance. These templates capture essential information and focus on performance goals, allowing you to assess different dimensions of performance.</a:t>
            </a:r>
          </a:p>
          <a:p>
            <a:endParaRPr lang="en-IN" b="1" dirty="0"/>
          </a:p>
          <a:p>
            <a:r>
              <a:rPr lang="en-IN" b="1" dirty="0"/>
              <a:t>2.</a:t>
            </a:r>
            <a:r>
              <a:rPr lang="en-US" b="1" dirty="0"/>
              <a:t> Customization: Customize these templates to fit your organization’s specific needs. However, consider complementing Excel with specialized HR software for enhanced collaboration and automation.</a:t>
            </a:r>
          </a:p>
          <a:p>
            <a:endParaRPr lang="en-IN" b="1" dirty="0"/>
          </a:p>
          <a:p>
            <a:r>
              <a:rPr lang="en-IN" b="1" dirty="0"/>
              <a:t>3.</a:t>
            </a:r>
            <a:r>
              <a:rPr lang="en-US" b="1" dirty="0"/>
              <a:t> Visualize KPIs: Use Excel’s features to highlight key performance indicators visually, ensuring meaningful insights for managers and executives.</a:t>
            </a:r>
          </a:p>
          <a:p>
            <a:endParaRPr lang="en-IN" b="1" dirty="0"/>
          </a:p>
          <a:p>
            <a:r>
              <a:rPr lang="en-US" b="1" dirty="0"/>
              <a:t>Remember, thoughtful performance analysis contributes to organizational effectiveness and growth! 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864422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Y_IGNORE_UCW" val="true"/>
  <p:tag name="PPT/NOTESSLIDES/NOTESSLIDE2.XML" val="935051003"/>
  <p:tag name="PPT/SLIDES/SLIDE13.XML" val="2684008341"/>
  <p:tag name="PPT/SLIDES/SLIDE11.XML" val="3029742380"/>
  <p:tag name="PPT/SLIDES/SLIDE4.XML" val="2693104194"/>
  <p:tag name="PPT/SLIDES/SLIDE3.XML" val="3488701392"/>
  <p:tag name="PPT/SLIDES/SLIDE6.XML" val="1795648237"/>
  <p:tag name="PPT/SLIDES/SLIDE7.XML" val="1846742961"/>
  <p:tag name="PPT/SLIDES/SLIDE8.XML" val="2771550004"/>
  <p:tag name="PPT/SLIDES/SLIDE9.XML" val="16235534"/>
  <p:tag name="PPT/SLIDES/SLIDE10.XML" val="4119897974"/>
  <p:tag name="PPT/SLIDES/SLIDE2.XML" val="3782454969"/>
  <p:tag name="PPT/SLIDES/SLIDE12.XML" val="2921195597"/>
  <p:tag name="PPT/SLIDES/SLIDE1.XML" val="4002165088"/>
  <p:tag name="PPT/SLIDES/SLIDE5.XML" val="3864137568"/>
  <p:tag name="PPT/NOTESSLIDES/NOTESSLIDE1.XML" val="3148512937"/>
  <p:tag name="PPT/SLIDEMASTERS/SLIDEMASTER1.XML" val="23768890"/>
  <p:tag name="PPT/SLIDELAYOUTS/SLIDELAYOUT8.XML" val="2964446891"/>
  <p:tag name="PPT/SLIDELAYOUTS/SLIDELAYOUT7.XML" val="173840363"/>
  <p:tag name="PPT/SLIDELAYOUTS/SLIDELAYOUT6.XML" val="1981621000"/>
  <p:tag name="PPT/SLIDELAYOUTS/SLIDELAYOUT5.XML" val="1166073926"/>
  <p:tag name="PPT/SLIDELAYOUTS/SLIDELAYOUT4.XML" val="2468320560"/>
  <p:tag name="PPT/SLIDELAYOUTS/SLIDELAYOUT3.XML" val="2520624125"/>
  <p:tag name="PPT/SLIDELAYOUTS/SLIDELAYOUT2.XML" val="1391743541"/>
  <p:tag name="PPT/SLIDELAYOUTS/SLIDELAYOUT1.XML" val="3561822435"/>
  <p:tag name="PPT/SLIDELAYOUTS/SLIDELAYOUT9.XML" val="373629049"/>
  <p:tag name="PPT/SLIDELAYOUTS/SLIDELAYOUT10.XML" val="1984934351"/>
  <p:tag name="PPT/SLIDELAYOUTS/SLIDELAYOUT11.XML" val="3117549107"/>
  <p:tag name="PPT/SLIDELAYOUTS/SLIDELAYOUT18.XML" val="1486689211"/>
  <p:tag name="PPT/SLIDELAYOUTS/SLIDELAYOUT17.XML" val="377643991"/>
  <p:tag name="PPT/SLIDELAYOUTS/SLIDELAYOUT16.XML" val="3811959633"/>
  <p:tag name="PPT/SLIDELAYOUTS/SLIDELAYOUT14.XML" val="2636796458"/>
  <p:tag name="PPT/SLIDELAYOUTS/SLIDELAYOUT13.XML" val="3346126451"/>
  <p:tag name="PPT/SLIDELAYOUTS/SLIDELAYOUT12.XML" val="1612122079"/>
  <p:tag name="PPT/SLIDELAYOUTS/SLIDELAYOUT15.XML" val="2892160421"/>
  <p:tag name="PPT/MEDIA/IMAGE4.PNG" val="2178370268"/>
  <p:tag name="PPT/THEME/THEME2.XML" val="2900805897"/>
  <p:tag name="PPT/MEDIA/IMAGE3.PNG" val="1163003675"/>
  <p:tag name="PPT/MEDIA/IMAGE2.PNG" val="3495202561"/>
  <p:tag name="PPT/MEDIA/IMAGE1.PNG" val="648294302"/>
  <p:tag name="PPT/THEME/THEME1.XML" val="3995964532"/>
  <p:tag name="PPT/NOTESMASTERS/NOTESMASTER1.XML" val="1788115888"/>
  <p:tag name="PPT/MEDIA/IMAGE5.PNG" val="1456299022"/>
  <p:tag name="PPT/MEDIA/IMAGE7.PNG" val="531676360"/>
  <p:tag name="PPT/MEDIA/IMAGE10.JPEG" val="3400441829"/>
  <p:tag name="PPT/MEDIA/IMAGE9.JPEG" val="3228451531"/>
  <p:tag name="PPT/MEDIA/IMAGE8.PNG" val="412489920"/>
  <p:tag name="PPT/MEDIA/IMAGE6.PNG" val="867789393"/>
  <p:tag name="PPT/CHARTS/CHART3.XML" val="1383997425"/>
</p:tagLst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Droplet</vt:lpstr>
      <vt:lpstr>EMPLOYEE DATA ANALYSIS USING EXCEL  </vt:lpstr>
      <vt:lpstr>PROJECT TITLE</vt:lpstr>
      <vt:lpstr>AGENDA</vt:lpstr>
      <vt:lpstr>PROBLEM STATEMENT</vt:lpstr>
      <vt:lpstr>PROJECT OVERVIEW</vt:lpstr>
      <vt:lpstr>WHO ARE THE END USERS?</vt:lpstr>
      <vt:lpstr>OUR SOLUTION AND ITS VALUE PROPOSITION</vt:lpstr>
      <vt:lpstr>Dataset Description</vt:lpstr>
      <vt:lpstr>THE "WOW" IN OUR SOLUTION</vt:lpstr>
      <vt:lpstr>PowerPoint Presentation</vt:lpstr>
      <vt:lpstr>PowerPoint Presentation</vt:lpstr>
      <vt:lpstr>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DATA ANALYSIS USING EXCEL  </dc:title>
  <cp:lastModifiedBy>Naveen G</cp:lastModifiedBy>
  <cp:revision>2</cp:revision>
  <dcterms:modified xsi:type="dcterms:W3CDTF">2024-09-02T10:18:50Z</dcterms:modified>
</cp:coreProperties>
</file>